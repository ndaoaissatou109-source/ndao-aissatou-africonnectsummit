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AFRICONNECT SUMMIT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AfriConnect Summit </a:t>
            </a:r>
            <a:pPr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site web officiel de l'événement — l'expérience qui redéfinit l'Afrique Tech.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Dakar, Sénégal   •   15–17 Novembre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vitrine pensé pour convertir l'intérêt en inscriptions.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l'AfriConnect Summit 2026, communiquer le programme et convertir les visiteurs en participants inscrits.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86000"/>
            <a:ext cx="594360" cy="59436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20" dirty="0"/>
          </a:p>
        </p:txBody>
      </p:sp>
      <p:sp>
        <p:nvSpPr>
          <p:cNvPr id="12" name="Text 10"/>
          <p:cNvSpPr/>
          <p:nvPr/>
        </p:nvSpPr>
        <p:spPr>
          <a:xfrm>
            <a:off x="46634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cible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Décideurs tech, investisseurs, intervenants, sponsors, presse et étudiants venus de tout le continent.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29000" cy="37490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50800" dir="5400000">
              <a:srgbClr val="0B1F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286000"/>
            <a:ext cx="594360" cy="59436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841248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356616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clés : Accueil, Programme, Intervenants et Contact, reliées par une navigation commune.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pages HTML reliées par une barre de navigation et un pied de page communs.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7744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13304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1089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Accueil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5204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393192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compte à rebours, statistiques animées, intervenants vedettes, sponsors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1031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237744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13304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1089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11880" y="35204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programme.html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93192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par onglets (jours), tableaux des sessions et salles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21031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9944" y="237744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13304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82512" y="31089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Intervenants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82512" y="35204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intervenants.html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82512" y="393192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filtrable de 9 speakers par thématique et pays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51976" y="210312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0576" y="2377440"/>
            <a:ext cx="548640" cy="548640"/>
          </a:xfrm>
          <a:prstGeom prst="roundRect">
            <a:avLst>
              <a:gd name="adj" fmla="val 83333"/>
            </a:avLst>
          </a:prstGeom>
          <a:solidFill>
            <a:srgbClr val="13304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0576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53144" y="310896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53144" y="352044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contact.html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53144" y="3931920"/>
            <a:ext cx="2112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d'inscription, informations pratiques, FAQ, carte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du dépôt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source est versionné et hébergé sur GitHub.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89720" y="548640"/>
            <a:ext cx="2331720" cy="777240"/>
          </a:xfrm>
          <a:prstGeom prst="roundRect">
            <a:avLst>
              <a:gd name="adj" fmla="val 49412"/>
            </a:avLst>
          </a:prstGeom>
          <a:solidFill>
            <a:srgbClr val="050C18"/>
          </a:solidFill>
          <a:ln/>
          <a:effectLst>
            <a:outerShdw sx="100000" sy="100000" kx="0" ky="0" algn="bl" rotWithShape="0" blurRad="127000" dist="38100" dir="540000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0" y="685800"/>
            <a:ext cx="502920" cy="502920"/>
          </a:xfrm>
          <a:prstGeom prst="ellipse">
            <a:avLst/>
          </a:prstGeom>
          <a:solidFill>
            <a:srgbClr val="13304F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9966960" y="6675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66960" y="941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public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050C18"/>
          </a:solidFill>
          <a:ln/>
          <a:effectLst>
            <a:outerShdw sx="100000" sy="100000" kx="0" ky="0" algn="bl" rotWithShape="0" blurRad="152400" dist="50800" dir="5400000">
              <a:srgbClr val="0B1F3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africonnect-summit 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108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3108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images/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logos, sponsors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023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4480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4480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programme.html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4480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 l'événement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937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intervenants.html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4937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des speakers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53949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80160" y="5394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contact.html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46120" y="5394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&amp; FAQ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5852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80160" y="5852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46120" y="5852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du projet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1874520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629400" y="2148840"/>
            <a:ext cx="502920" cy="50292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40" dirty="0"/>
          </a:p>
        </p:txBody>
      </p:sp>
      <p:sp>
        <p:nvSpPr>
          <p:cNvPr id="38" name="Text 36"/>
          <p:cNvSpPr/>
          <p:nvPr/>
        </p:nvSpPr>
        <p:spPr>
          <a:xfrm>
            <a:off x="7315200" y="21305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15200" y="24963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projet, instructions d'installation et arborescence du dépôt.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55080" y="3566160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629400" y="36758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images/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29400" y="3977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des intervenants, logos des sponsors, visuels du hero.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55080" y="4590288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629400" y="47000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 — main.js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29400" y="500176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à rebours, filtres, onglets, thème, formulaire, animations.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5614416"/>
            <a:ext cx="5166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B1F3A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629400" y="57241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css/ — style.css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29400" y="60258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couleurs, mise en page, responsive, dark mode.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d'accueil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hero capte l'attention ; le reste de la page construit la confiance.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 à rebours en direct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16712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/ heures / minutes / secondes jusqu'au 15 octobre 2026, mis à jour chaque seconde.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880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Statistiques animées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21868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+1200 participants, 48 intervenants, 18 jours, 12 pays — chiffres incrémentés au défilement.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931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Intervenants vedettes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7024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asymétrique en 2 colonnes décalées, façon Dribbble, avec renvoi vers la page complète.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Partenaires &amp; sponsors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32180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 en niveaux de gris, mis en couleur au survol (Orange, Wave, Ecobank, Yango...).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86600" y="1874520"/>
            <a:ext cx="4434840" cy="4251960"/>
          </a:xfrm>
          <a:prstGeom prst="roundRect">
            <a:avLst>
              <a:gd name="adj" fmla="val 3226"/>
            </a:avLst>
          </a:prstGeom>
          <a:solidFill>
            <a:srgbClr val="050C18"/>
          </a:solidFill>
          <a:ln/>
          <a:effectLst>
            <a:outerShdw sx="100000" sy="100000" kx="0" ky="0" algn="bl" rotWithShape="0" blurRad="228600" dist="76200" dir="5400000">
              <a:srgbClr val="0B1F3A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52360" y="22402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RESTANT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2788920"/>
            <a:ext cx="834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7452360" y="3566160"/>
            <a:ext cx="834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78190" y="2788920"/>
            <a:ext cx="834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378190" y="3566160"/>
            <a:ext cx="834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04020" y="2788920"/>
            <a:ext cx="834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304020" y="3566160"/>
            <a:ext cx="834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229850" y="2788920"/>
            <a:ext cx="8343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0229850" y="3566160"/>
            <a:ext cx="834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2360" y="4160520"/>
            <a:ext cx="370332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43891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Statistiques clés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52360" y="4800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52360" y="5303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00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686800" y="5303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Intervenants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921240" y="4800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921240" y="5303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Intervenants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profils présentés dans une grille filtrable par thématique.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27048" y="1828800"/>
            <a:ext cx="122529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7048" y="1828800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Tech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16936" y="182880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82880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828800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82880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94376" y="1828800"/>
            <a:ext cx="7223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376" y="182880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578608"/>
            <a:ext cx="1563624" cy="1325880"/>
          </a:xfrm>
          <a:prstGeom prst="roundRect">
            <a:avLst>
              <a:gd name="adj" fmla="val 5517"/>
            </a:avLst>
          </a:prstGeom>
          <a:solidFill>
            <a:srgbClr val="DC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78608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9808" y="395020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Aminata Diallo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425196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Experte IA &amp; LLM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" y="45262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24328" y="246888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34056" y="2578608"/>
            <a:ext cx="1563624" cy="1325880"/>
          </a:xfrm>
          <a:prstGeom prst="roundRect">
            <a:avLst>
              <a:gd name="adj" fmla="val 5517"/>
            </a:avLst>
          </a:prstGeom>
          <a:solidFill>
            <a:srgbClr val="DCEFEC"/>
          </a:solidFill>
          <a:ln/>
        </p:spPr>
      </p:sp>
      <p:sp>
        <p:nvSpPr>
          <p:cNvPr id="22" name="Text 20"/>
          <p:cNvSpPr/>
          <p:nvPr/>
        </p:nvSpPr>
        <p:spPr>
          <a:xfrm>
            <a:off x="2734056" y="2578608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734056" y="395020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Kofi Mensah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34056" y="425196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Fintech Global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34056" y="45262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08576" y="246888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2578608"/>
            <a:ext cx="1563624" cy="1325880"/>
          </a:xfrm>
          <a:prstGeom prst="roundRect">
            <a:avLst>
              <a:gd name="adj" fmla="val 5517"/>
            </a:avLst>
          </a:prstGeom>
          <a:solidFill>
            <a:srgbClr val="DCEFEC"/>
          </a:solidFill>
          <a:ln/>
        </p:spPr>
      </p:sp>
      <p:sp>
        <p:nvSpPr>
          <p:cNvPr id="28" name="Text 26"/>
          <p:cNvSpPr/>
          <p:nvPr/>
        </p:nvSpPr>
        <p:spPr>
          <a:xfrm>
            <a:off x="4718304" y="2578608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718304" y="395020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Sarah Benali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425196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Product Designer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18304" y="45262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Maroc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92824" y="246888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02552" y="2578608"/>
            <a:ext cx="1563624" cy="1325880"/>
          </a:xfrm>
          <a:prstGeom prst="roundRect">
            <a:avLst>
              <a:gd name="adj" fmla="val 5517"/>
            </a:avLst>
          </a:prstGeom>
          <a:solidFill>
            <a:srgbClr val="DCEFEC"/>
          </a:solidFill>
          <a:ln/>
        </p:spPr>
      </p:sp>
      <p:sp>
        <p:nvSpPr>
          <p:cNvPr id="34" name="Text 32"/>
          <p:cNvSpPr/>
          <p:nvPr/>
        </p:nvSpPr>
        <p:spPr>
          <a:xfrm>
            <a:off x="6702552" y="2578608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702552" y="395020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Fatou Ndiaye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02552" y="425196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Data et Big Data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702552" y="45262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77072" y="246888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686800" y="2578608"/>
            <a:ext cx="1563624" cy="1325880"/>
          </a:xfrm>
          <a:prstGeom prst="roundRect">
            <a:avLst>
              <a:gd name="adj" fmla="val 5517"/>
            </a:avLst>
          </a:prstGeom>
          <a:solidFill>
            <a:srgbClr val="DCEFEC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0" y="2578608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8686800" y="395020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David Osei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0" y="425196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 Robotics &amp; IA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686800" y="45262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561320" y="2468880"/>
            <a:ext cx="1783080" cy="233172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671048" y="2578608"/>
            <a:ext cx="1563624" cy="1325880"/>
          </a:xfrm>
          <a:prstGeom prst="roundRect">
            <a:avLst>
              <a:gd name="adj" fmla="val 5517"/>
            </a:avLst>
          </a:prstGeom>
          <a:solidFill>
            <a:srgbClr val="DCEFEC"/>
          </a:solidFill>
          <a:ln/>
        </p:spPr>
      </p:sp>
      <p:sp>
        <p:nvSpPr>
          <p:cNvPr id="46" name="Text 44"/>
          <p:cNvSpPr/>
          <p:nvPr/>
        </p:nvSpPr>
        <p:spPr>
          <a:xfrm>
            <a:off x="10671048" y="2578608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10671048" y="3950208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Aïcha Traoré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671048" y="4251960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671048" y="4526280"/>
            <a:ext cx="1563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008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autres profils (Kenya, Mali, Togo) complètent la grille de 9 intervenants.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Contact &amp; inscription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formulaire complet, des informations pratiques et une FAQ pour rassurer avant l'inscription.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3093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63500" dir="54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Formulaire d'inscription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651760"/>
            <a:ext cx="55778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651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3227832"/>
            <a:ext cx="55778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27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email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3803904"/>
            <a:ext cx="55778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80390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4379976"/>
            <a:ext cx="55778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3799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participation (Participant, Intervenant, Sponsor, Exposant, Presse)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" y="4956048"/>
            <a:ext cx="55778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9560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africain (11 pays proposés)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05840" y="5532120"/>
            <a:ext cx="55778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5321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/ Motivation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6153912"/>
            <a:ext cx="557784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615391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mon inscription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78040" y="1874520"/>
            <a:ext cx="4343400" cy="2011680"/>
          </a:xfrm>
          <a:prstGeom prst="roundRect">
            <a:avLst>
              <a:gd name="adj" fmla="val 5455"/>
            </a:avLst>
          </a:prstGeom>
          <a:solidFill>
            <a:srgbClr val="050C18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1031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0" y="2359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CICAD, Dakar, Sénégal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6700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– 17 Novembre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2369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98080" y="3493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contact@africonnectsummit.com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41148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 — 5 questions clés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78040" y="4526280"/>
            <a:ext cx="4343400" cy="365760"/>
          </a:xfrm>
          <a:prstGeom prst="roundRect">
            <a:avLst>
              <a:gd name="adj" fmla="val 15000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526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d'inscription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78040" y="4956048"/>
            <a:ext cx="4343400" cy="365760"/>
          </a:xfrm>
          <a:prstGeom prst="roundRect">
            <a:avLst>
              <a:gd name="adj" fmla="val 15000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49560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son option de participation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78040" y="5385816"/>
            <a:ext cx="4343400" cy="365760"/>
          </a:xfrm>
          <a:prstGeom prst="roundRect">
            <a:avLst>
              <a:gd name="adj" fmla="val 15000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53858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de participation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78040" y="5815584"/>
            <a:ext cx="4343400" cy="365760"/>
          </a:xfrm>
          <a:prstGeom prst="roundRect">
            <a:avLst>
              <a:gd name="adj" fmla="val 15000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60920" y="581558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en ligne (distanciel)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78040" y="6245352"/>
            <a:ext cx="4343400" cy="365760"/>
          </a:xfrm>
          <a:prstGeom prst="roundRect">
            <a:avLst>
              <a:gd name="adj" fmla="val 15000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60920" y="62453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d'inscription (gratuit)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transversales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Présentes sur l'ensemble des pages du 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30552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7157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sombre / clair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3580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par bouton, préférence sauvegardée et ré-appliquée à chaque visite.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130552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27157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burger mobile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9432" y="303580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transformée en panneau latéral sur écrans de moins de 767px.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2130552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02752" y="271576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Animations au défilement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02752" y="303580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section apparaît en fondu grâce à un IntersectionObserver.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096512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468172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Bouton retour en haut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500176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Apparaît après 300px de défilement, remonte la page en douceur.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096512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99432" y="468172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3 paliers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99432" y="500176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Grilles adaptées : 3 colonnes (bureau), 2 (tablette), 1 (mobile).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4096512"/>
            <a:ext cx="457200" cy="457200"/>
          </a:xfrm>
          <a:prstGeom prst="ellipse">
            <a:avLst/>
          </a:prstGeom>
          <a:solidFill>
            <a:srgbClr val="E6FAF7"/>
          </a:solidFill>
          <a:ln/>
        </p:spPr>
      </p:sp>
      <p:sp>
        <p:nvSpPr>
          <p:cNvPr id="31" name="Text 29"/>
          <p:cNvSpPr/>
          <p:nvPr/>
        </p:nvSpPr>
        <p:spPr>
          <a:xfrm>
            <a:off x="8302752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2752" y="4681728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Formulaire sans rechargement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02752" y="5001768"/>
            <a:ext cx="2916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et confirmation gérées en JavaScript (AJAX simulé).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identité verte menthe sur fond bleu nuit, cohérente sur tout le site.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B1F3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#0B1F3A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nuit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219456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2DD4B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#2DD4BF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0280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menthe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219456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D9488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#0D9488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0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/ accent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219456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F5FFFD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3657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#F5FFFD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40680" y="3913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clair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Poppins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Titres, logo et navigation — une police géométrique moderne, lisible sur fond clair comme sombre.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1828800"/>
            <a:ext cx="5029200" cy="4343400"/>
          </a:xfrm>
          <a:prstGeom prst="roundRect">
            <a:avLst>
              <a:gd name="adj" fmla="val 3158"/>
            </a:avLst>
          </a:prstGeom>
          <a:solidFill>
            <a:srgbClr val="0F284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Motif visuel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12280" y="2606040"/>
            <a:ext cx="292608" cy="292608"/>
          </a:xfrm>
          <a:prstGeom prst="ellipse">
            <a:avLst/>
          </a:prstGeom>
          <a:solidFill>
            <a:srgbClr val="13304F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896" dirty="0"/>
          </a:p>
        </p:txBody>
      </p:sp>
      <p:sp>
        <p:nvSpPr>
          <p:cNvPr id="24" name="Text 22"/>
          <p:cNvSpPr/>
          <p:nvPr/>
        </p:nvSpPr>
        <p:spPr>
          <a:xfrm>
            <a:off x="7223760" y="25786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en verre (glassmorphism) avec flou d'arrière-plan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3383280"/>
            <a:ext cx="292608" cy="292608"/>
          </a:xfrm>
          <a:prstGeom prst="ellipse">
            <a:avLst/>
          </a:prstGeom>
          <a:solidFill>
            <a:srgbClr val="13304F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7223760" y="3355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rondes teal sur fond menthe clair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4160520"/>
            <a:ext cx="292608" cy="292608"/>
          </a:xfrm>
          <a:prstGeom prst="ellipse">
            <a:avLst/>
          </a:prstGeom>
          <a:solidFill>
            <a:srgbClr val="13304F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896" dirty="0"/>
          </a:p>
        </p:txBody>
      </p:sp>
      <p:sp>
        <p:nvSpPr>
          <p:cNvPr id="30" name="Text 28"/>
          <p:cNvSpPr/>
          <p:nvPr/>
        </p:nvSpPr>
        <p:spPr>
          <a:xfrm>
            <a:off x="7223760" y="4133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très arrondis (24–28px) sur photos et cartes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12280" y="4937760"/>
            <a:ext cx="292608" cy="292608"/>
          </a:xfrm>
          <a:prstGeom prst="ellipse">
            <a:avLst/>
          </a:prstGeom>
          <a:solidFill>
            <a:srgbClr val="13304F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96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896" dirty="0"/>
          </a:p>
        </p:txBody>
      </p:sp>
      <p:sp>
        <p:nvSpPr>
          <p:cNvPr id="33" name="Text 31"/>
          <p:cNvSpPr/>
          <p:nvPr/>
        </p:nvSpPr>
        <p:spPr>
          <a:xfrm>
            <a:off x="7223760" y="49103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Halos radiaux menthe en arrière-plan des sections héro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F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statique, léger, sans framework — facile à héberger et à maintenir.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75688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532888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sémantique des 4 pages, balises accessibles.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2075688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9432" y="2532888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(:root), Flexbox / Grid, media queries, dark mode.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2075688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(Vanilla)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02752" y="2532888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à rebours, filtres, onglets, formulaire, thème, animations.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4041648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Icons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4498848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d'icônes via CDN pour toute l'interface.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9432" y="4041648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9432" y="4498848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Poppins chargée en ligne pour toute la typographie.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B1F3A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02752" y="4041648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02752" y="4498848"/>
            <a:ext cx="2916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 intégrée sur la page Contact.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2DD4B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prêt à accueillir les 1200+ participants attendus à Dakar.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le formulaire à un vrai backend / service d'emailing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la page Programme au menu et compléter son contenu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images et les temps de chargement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5486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d'accessibilité et de compatibilité navigateurs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contact@africonnect.com   •   Dakar, Sénégal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2026-07-28T11:05:13Z</dcterms:created>
  <dcterms:modified xsi:type="dcterms:W3CDTF">2026-07-28T11:05:13Z</dcterms:modified>
</cp:coreProperties>
</file>